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ffish Goyal" userId="02663ed8837db289" providerId="LiveId" clId="{239DE911-7D44-47DA-B481-3F92007B638A}"/>
    <pc:docChg chg="undo custSel modSld">
      <pc:chgData name="Cheffish Goyal" userId="02663ed8837db289" providerId="LiveId" clId="{239DE911-7D44-47DA-B481-3F92007B638A}" dt="2025-10-30T08:33:28.720" v="99" actId="20577"/>
      <pc:docMkLst>
        <pc:docMk/>
      </pc:docMkLst>
      <pc:sldChg chg="modSp mod">
        <pc:chgData name="Cheffish Goyal" userId="02663ed8837db289" providerId="LiveId" clId="{239DE911-7D44-47DA-B481-3F92007B638A}" dt="2025-10-30T08:33:28.720" v="99" actId="20577"/>
        <pc:sldMkLst>
          <pc:docMk/>
          <pc:sldMk cId="1863576778" sldId="256"/>
        </pc:sldMkLst>
        <pc:spChg chg="mod">
          <ac:chgData name="Cheffish Goyal" userId="02663ed8837db289" providerId="LiveId" clId="{239DE911-7D44-47DA-B481-3F92007B638A}" dt="2025-10-30T08:33:02.152" v="38" actId="1076"/>
          <ac:spMkLst>
            <pc:docMk/>
            <pc:sldMk cId="1863576778" sldId="256"/>
            <ac:spMk id="2" creationId="{0B86B814-0E28-251A-0DB7-1757C2911A1B}"/>
          </ac:spMkLst>
        </pc:spChg>
        <pc:spChg chg="mod">
          <ac:chgData name="Cheffish Goyal" userId="02663ed8837db289" providerId="LiveId" clId="{239DE911-7D44-47DA-B481-3F92007B638A}" dt="2025-10-30T08:33:28.720" v="99" actId="20577"/>
          <ac:spMkLst>
            <pc:docMk/>
            <pc:sldMk cId="1863576778" sldId="256"/>
            <ac:spMk id="3" creationId="{0F0A165B-E971-995B-18E6-FAF0225E05B9}"/>
          </ac:spMkLst>
        </pc:spChg>
        <pc:spChg chg="mod">
          <ac:chgData name="Cheffish Goyal" userId="02663ed8837db289" providerId="LiveId" clId="{239DE911-7D44-47DA-B481-3F92007B638A}" dt="2025-10-30T08:32:35.069" v="35" actId="255"/>
          <ac:spMkLst>
            <pc:docMk/>
            <pc:sldMk cId="1863576778" sldId="256"/>
            <ac:spMk id="5" creationId="{68F32AD9-DA65-9406-AC3D-3B2693F03E00}"/>
          </ac:spMkLst>
        </pc:spChg>
        <pc:picChg chg="mod">
          <ac:chgData name="Cheffish Goyal" userId="02663ed8837db289" providerId="LiveId" clId="{239DE911-7D44-47DA-B481-3F92007B638A}" dt="2025-10-30T08:33:06.806" v="75" actId="1036"/>
          <ac:picMkLst>
            <pc:docMk/>
            <pc:sldMk cId="1863576778" sldId="256"/>
            <ac:picMk id="7" creationId="{DBCFBE25-E67E-1F82-E56D-6D0A42C0963A}"/>
          </ac:picMkLst>
        </pc:picChg>
      </pc:sldChg>
    </pc:docChg>
  </pc:docChgLst>
  <pc:docChgLst>
    <pc:chgData name="Himanshu Saini" userId="5aaa952e9efdbfc9" providerId="LiveId" clId="{D028C20A-4094-4B4A-9F18-12ABEF55BC5D}"/>
    <pc:docChg chg="modSld">
      <pc:chgData name="Himanshu Saini" userId="5aaa952e9efdbfc9" providerId="LiveId" clId="{D028C20A-4094-4B4A-9F18-12ABEF55BC5D}" dt="2025-11-13T09:14:33.526" v="61" actId="20577"/>
      <pc:docMkLst>
        <pc:docMk/>
      </pc:docMkLst>
      <pc:sldChg chg="modSp mod">
        <pc:chgData name="Himanshu Saini" userId="5aaa952e9efdbfc9" providerId="LiveId" clId="{D028C20A-4094-4B4A-9F18-12ABEF55BC5D}" dt="2025-11-13T09:14:33.526" v="61" actId="20577"/>
        <pc:sldMkLst>
          <pc:docMk/>
          <pc:sldMk cId="1863576778" sldId="256"/>
        </pc:sldMkLst>
        <pc:spChg chg="mod">
          <ac:chgData name="Himanshu Saini" userId="5aaa952e9efdbfc9" providerId="LiveId" clId="{D028C20A-4094-4B4A-9F18-12ABEF55BC5D}" dt="2025-11-13T09:14:33.526" v="61" actId="20577"/>
          <ac:spMkLst>
            <pc:docMk/>
            <pc:sldMk cId="1863576778" sldId="256"/>
            <ac:spMk id="3" creationId="{0F0A165B-E971-995B-18E6-FAF0225E05B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399B-A5CD-CFFE-D965-38B7677875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456E11-FF0D-76BE-2A78-3F877A3126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F27B95-9EC2-0A93-FBD8-75E6123D535F}"/>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3853101B-C9FF-6E5D-F03C-34791A6D48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FF2582-A1C8-3814-0950-24D4FC80BD5A}"/>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178533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2D105-F599-FDE1-8BAB-15C47783A6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78B056-DBDE-3102-7879-8DCCFF9E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9155A0-AC37-238D-F86E-BA2CA374B881}"/>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6F1A9185-AE14-B0E5-16C1-1D689DFF08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AF76A-1329-F6FD-23BE-85E609512F15}"/>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1174890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83FA-F930-F96E-9C7F-E90135BF0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1362BA9-E274-C9BB-07D0-95E6C27D3F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F8930D-71AD-53DF-1707-876A7BC7E160}"/>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8A1AABC1-CF3B-6AF2-5540-77894BAEF4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6C7A03-3B1E-8BCD-6599-AD119FEF7979}"/>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1626308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76B6-2277-77E2-5D1A-BA5CB9C76A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EC4226-48BC-0CDA-64DB-8B009EA629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7EED8A-483B-7A90-6187-CD24EC90CD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2480A1-BE97-6874-7A3A-358674E22E6C}"/>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6" name="Footer Placeholder 5">
            <a:extLst>
              <a:ext uri="{FF2B5EF4-FFF2-40B4-BE49-F238E27FC236}">
                <a16:creationId xmlns:a16="http://schemas.microsoft.com/office/drawing/2014/main" id="{CF2CD579-2B8E-89B2-F2C4-7633AECAF9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0F8EB8-3A2A-F190-ABC5-7DBB17BB016E}"/>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1959114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DE19-77D3-1C29-BE04-F720C4D2D4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2A9257-795B-5173-02DA-9878C2EF0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233D4-CD70-AFDA-96BD-CCABF8417B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27C950-6DE3-D283-93F0-73DE712202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7E3892-9084-5819-9D97-F2CE0DAEC7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B6E409-0140-B025-35B6-0C199B188F64}"/>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8" name="Footer Placeholder 7">
            <a:extLst>
              <a:ext uri="{FF2B5EF4-FFF2-40B4-BE49-F238E27FC236}">
                <a16:creationId xmlns:a16="http://schemas.microsoft.com/office/drawing/2014/main" id="{6738C78B-5DED-F0D3-8468-14EED8DB62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43CF14F-F87B-409B-5CF1-09C820D0B515}"/>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3930329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0EBC8-BC73-7344-9368-11DB068DDF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397617-2AEB-9887-AECE-00622B75A322}"/>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4" name="Footer Placeholder 3">
            <a:extLst>
              <a:ext uri="{FF2B5EF4-FFF2-40B4-BE49-F238E27FC236}">
                <a16:creationId xmlns:a16="http://schemas.microsoft.com/office/drawing/2014/main" id="{C144BA72-D10C-2E9E-1616-9D769F0FB0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A1ECF3-89AA-B97D-7F63-93D9CA64BE9D}"/>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484180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F613BF-DD7A-1EE1-8887-D85B7D022B5C}"/>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3" name="Footer Placeholder 2">
            <a:extLst>
              <a:ext uri="{FF2B5EF4-FFF2-40B4-BE49-F238E27FC236}">
                <a16:creationId xmlns:a16="http://schemas.microsoft.com/office/drawing/2014/main" id="{DB3E0F23-E312-D306-7241-3258D3FEB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EF6B8E-CA04-1B87-0A3D-A7CFD974E7DF}"/>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82653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97F3-AD13-BE44-9CC1-15CB59857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73F6F2-5635-3B4C-1B82-67AEE3EC5F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F67F58-D772-DE4B-6C16-593CF8BA9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C2B05-34C1-D92A-5C3E-E30DFF86C35A}"/>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6" name="Footer Placeholder 5">
            <a:extLst>
              <a:ext uri="{FF2B5EF4-FFF2-40B4-BE49-F238E27FC236}">
                <a16:creationId xmlns:a16="http://schemas.microsoft.com/office/drawing/2014/main" id="{03DCB100-5C2C-E85E-669B-5F016D9F3F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6B08EC-CF41-73C2-F319-FB01DEFA7C2E}"/>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85441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BD60-7A11-3D9D-8AD9-C42E422ED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B7E4A3-777B-3F88-29AB-E6A4580DC0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7867A0-980D-88FA-FC76-DE99D2669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88EB5-C0FC-8152-26CD-CF7AC217CB5A}"/>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6" name="Footer Placeholder 5">
            <a:extLst>
              <a:ext uri="{FF2B5EF4-FFF2-40B4-BE49-F238E27FC236}">
                <a16:creationId xmlns:a16="http://schemas.microsoft.com/office/drawing/2014/main" id="{E0CEC82D-A0AB-05D5-5942-3FA7E7FDE0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40F8E3-12C8-3540-0314-E94799A4280B}"/>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82424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7632-9FE9-F846-FB87-F9102B9CEA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F41DB1-EBBA-0CC1-9D1D-2694798D36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0E95A9-C4FD-99C9-7B33-6CBAA81E5BC3}"/>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075D65E9-39B6-084A-F4A2-48FC9BAFBE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510806-EC5B-A86C-98C8-0E747260B7B5}"/>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425900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1149BD-D671-483A-8F65-8BC51A062F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2D78FC-1A20-DDB3-F1F0-D4DB837B56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FD3CD-754D-E2EA-D618-595E47B4F4B7}"/>
              </a:ext>
            </a:extLst>
          </p:cNvPr>
          <p:cNvSpPr>
            <a:spLocks noGrp="1"/>
          </p:cNvSpPr>
          <p:nvPr>
            <p:ph type="dt" sz="half" idx="10"/>
          </p:nvPr>
        </p:nvSpPr>
        <p:spPr/>
        <p:txBody>
          <a:body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0D94AAD8-95C5-CF36-4F58-4CAC95934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440DA1-B73B-7971-75C4-AE9BC917239C}"/>
              </a:ext>
            </a:extLst>
          </p:cNvPr>
          <p:cNvSpPr>
            <a:spLocks noGrp="1"/>
          </p:cNvSpPr>
          <p:nvPr>
            <p:ph type="sldNum" sz="quarter" idx="12"/>
          </p:nvPr>
        </p:nvSpPr>
        <p:spPr/>
        <p:txBody>
          <a:bodyPr/>
          <a:lstStyle/>
          <a:p>
            <a:fld id="{666B00B1-F1B6-4BCF-ACCB-369567F8CAA1}" type="slidenum">
              <a:rPr lang="en-IN" smtClean="0"/>
              <a:t>‹#›</a:t>
            </a:fld>
            <a:endParaRPr lang="en-IN"/>
          </a:p>
        </p:txBody>
      </p:sp>
    </p:spTree>
    <p:extLst>
      <p:ext uri="{BB962C8B-B14F-4D97-AF65-F5344CB8AC3E}">
        <p14:creationId xmlns:p14="http://schemas.microsoft.com/office/powerpoint/2010/main" val="135233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2F4DB-8A4A-8612-E18E-FD34F5763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DD6148-B008-E61E-176C-E25A0AE3E4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08F321-CE02-B546-3A25-B6DAB5FF40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2FFB3-2BF4-4E60-ADBE-5D34A6ABCA9A}" type="datetimeFigureOut">
              <a:rPr lang="en-IN" smtClean="0"/>
              <a:t>13-11-2025</a:t>
            </a:fld>
            <a:endParaRPr lang="en-IN"/>
          </a:p>
        </p:txBody>
      </p:sp>
      <p:sp>
        <p:nvSpPr>
          <p:cNvPr id="5" name="Footer Placeholder 4">
            <a:extLst>
              <a:ext uri="{FF2B5EF4-FFF2-40B4-BE49-F238E27FC236}">
                <a16:creationId xmlns:a16="http://schemas.microsoft.com/office/drawing/2014/main" id="{657A80D4-1006-D44C-825D-5DE0E38630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A1C1B2-5E6F-AD9C-BB04-F8FB54DCAD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6B00B1-F1B6-4BCF-ACCB-369567F8CAA1}" type="slidenum">
              <a:rPr lang="en-IN" smtClean="0"/>
              <a:t>‹#›</a:t>
            </a:fld>
            <a:endParaRPr lang="en-IN"/>
          </a:p>
        </p:txBody>
      </p:sp>
    </p:spTree>
    <p:extLst>
      <p:ext uri="{BB962C8B-B14F-4D97-AF65-F5344CB8AC3E}">
        <p14:creationId xmlns:p14="http://schemas.microsoft.com/office/powerpoint/2010/main" val="3785161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kicad.org/8.0/en/kicad/kicad.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PTJ9sAk2c2I" TargetMode="External"/><Relationship Id="rId2" Type="http://schemas.openxmlformats.org/officeDocument/2006/relationships/hyperlink" Target="https://www.ijraset.com/research-paper/smart-sensors-and-nodemcu-esp8266-based-automated-irrigation-system"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340895289_Smart_Irrigation_System_Using_IoT"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www.arduino.cc/en/Guide/Introduction" TargetMode="External"/><Relationship Id="rId3" Type="http://schemas.openxmlformats.org/officeDocument/2006/relationships/hyperlink" Target="https://www.geeksforgeeks.org/electronics-engineering/what-is-vlsi/" TargetMode="External"/><Relationship Id="rId7" Type="http://schemas.openxmlformats.org/officeDocument/2006/relationships/hyperlink" Target="https://circuitdigest.com/tutorial/different-types-of-sensors-and-their-working" TargetMode="External"/><Relationship Id="rId2" Type="http://schemas.openxmlformats.org/officeDocument/2006/relationships/hyperlink" Target="https://futurefinders.in/services/" TargetMode="External"/><Relationship Id="rId1" Type="http://schemas.openxmlformats.org/officeDocument/2006/relationships/slideLayout" Target="../slideLayouts/slideLayout2.xml"/><Relationship Id="rId6" Type="http://schemas.openxmlformats.org/officeDocument/2006/relationships/hyperlink" Target="https://en.wikipedia.org/wiki/Arduino_Uno" TargetMode="External"/><Relationship Id="rId5" Type="http://schemas.openxmlformats.org/officeDocument/2006/relationships/hyperlink" Target="https://randomnerdtutorials.com/esp8266-pinout-reference-gpios/" TargetMode="External"/><Relationship Id="rId10" Type="http://schemas.openxmlformats.org/officeDocument/2006/relationships/hyperlink" Target="https://harishprojects.com/products/dht-11-dht11-digital-temperature-and-relative-humidity-sensor-module?srsltid=AfmBOorpYLnTVK_7Yj-ijXNnqqdTVK9EueMspAgBDCfDZEK" TargetMode="External"/><Relationship Id="rId4" Type="http://schemas.openxmlformats.org/officeDocument/2006/relationships/hyperlink" Target="https://x.com/Mahmud_Ibrahiem/status/1504402049391370246" TargetMode="External"/><Relationship Id="rId9" Type="http://schemas.openxmlformats.org/officeDocument/2006/relationships/hyperlink" Target="https://srituhobby.com/smart-irrigation-system-using-nodemcu-and-blynk/?srsltid=AfmBOopiigBYuHoK7a2-yw6nyqU5xr1tJ3RIdIV6swUPaeTQGXC9p9B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B814-0E28-251A-0DB7-1757C2911A1B}"/>
              </a:ext>
            </a:extLst>
          </p:cNvPr>
          <p:cNvSpPr>
            <a:spLocks noGrp="1"/>
          </p:cNvSpPr>
          <p:nvPr>
            <p:ph type="ctrTitle"/>
          </p:nvPr>
        </p:nvSpPr>
        <p:spPr>
          <a:xfrm>
            <a:off x="1524000" y="1504265"/>
            <a:ext cx="9144000" cy="925026"/>
          </a:xfrm>
        </p:spPr>
        <p:txBody>
          <a:bodyPr>
            <a:normAutofit/>
          </a:bodyPr>
          <a:lstStyle/>
          <a:p>
            <a:r>
              <a:rPr lang="en-IN" sz="2800" b="1" dirty="0"/>
              <a:t>PRESENTATION ON</a:t>
            </a:r>
            <a:br>
              <a:rPr lang="en-IN" sz="2800" b="1" dirty="0"/>
            </a:br>
            <a:r>
              <a:rPr lang="en-IN" sz="2800" b="1" dirty="0"/>
              <a:t>INDUSTRIAL SUMMER TRAINING AND PROJECT</a:t>
            </a:r>
          </a:p>
        </p:txBody>
      </p:sp>
      <p:sp>
        <p:nvSpPr>
          <p:cNvPr id="3" name="Subtitle 2">
            <a:extLst>
              <a:ext uri="{FF2B5EF4-FFF2-40B4-BE49-F238E27FC236}">
                <a16:creationId xmlns:a16="http://schemas.microsoft.com/office/drawing/2014/main" id="{0F0A165B-E971-995B-18E6-FAF0225E05B9}"/>
              </a:ext>
            </a:extLst>
          </p:cNvPr>
          <p:cNvSpPr>
            <a:spLocks noGrp="1"/>
          </p:cNvSpPr>
          <p:nvPr>
            <p:ph type="subTitle" idx="1"/>
          </p:nvPr>
        </p:nvSpPr>
        <p:spPr>
          <a:xfrm>
            <a:off x="1524000" y="4705932"/>
            <a:ext cx="9144000" cy="1842351"/>
          </a:xfrm>
        </p:spPr>
        <p:txBody>
          <a:bodyPr>
            <a:normAutofit/>
          </a:bodyPr>
          <a:lstStyle/>
          <a:p>
            <a:r>
              <a:rPr lang="en-IN" dirty="0"/>
              <a:t>Presented By: </a:t>
            </a:r>
          </a:p>
          <a:p>
            <a:r>
              <a:rPr lang="en-IN" dirty="0"/>
              <a:t>Name-Himanshu Saini</a:t>
            </a:r>
          </a:p>
          <a:p>
            <a:r>
              <a:rPr lang="en-IN" dirty="0"/>
              <a:t>Roll No.-12302052</a:t>
            </a:r>
          </a:p>
          <a:p>
            <a:r>
              <a:rPr lang="en-IN" dirty="0"/>
              <a:t>Class (Branch):</a:t>
            </a:r>
            <a:r>
              <a:rPr lang="en-IN" dirty="0" err="1"/>
              <a:t>B.Tech</a:t>
            </a:r>
            <a:r>
              <a:rPr lang="en-IN" dirty="0"/>
              <a:t> ECE</a:t>
            </a:r>
          </a:p>
        </p:txBody>
      </p:sp>
      <p:sp>
        <p:nvSpPr>
          <p:cNvPr id="5" name="TextBox 4">
            <a:extLst>
              <a:ext uri="{FF2B5EF4-FFF2-40B4-BE49-F238E27FC236}">
                <a16:creationId xmlns:a16="http://schemas.microsoft.com/office/drawing/2014/main" id="{68F32AD9-DA65-9406-AC3D-3B2693F03E00}"/>
              </a:ext>
            </a:extLst>
          </p:cNvPr>
          <p:cNvSpPr txBox="1"/>
          <p:nvPr/>
        </p:nvSpPr>
        <p:spPr>
          <a:xfrm>
            <a:off x="0" y="427047"/>
            <a:ext cx="12192000" cy="1077218"/>
          </a:xfrm>
          <a:prstGeom prst="rect">
            <a:avLst/>
          </a:prstGeom>
          <a:noFill/>
        </p:spPr>
        <p:txBody>
          <a:bodyPr wrap="square">
            <a:spAutoFit/>
          </a:bodyPr>
          <a:lstStyle/>
          <a:p>
            <a:pPr algn="ctr"/>
            <a:r>
              <a:rPr lang="en-US" sz="3200" b="1" dirty="0"/>
              <a:t>DEPARTMENT OF ELECTRONICS AND COMMUNICATION ENGINEERING PUNJABI UNIVERSITY, PATIALA</a:t>
            </a:r>
          </a:p>
        </p:txBody>
      </p:sp>
      <p:pic>
        <p:nvPicPr>
          <p:cNvPr id="7" name="Picture 6">
            <a:extLst>
              <a:ext uri="{FF2B5EF4-FFF2-40B4-BE49-F238E27FC236}">
                <a16:creationId xmlns:a16="http://schemas.microsoft.com/office/drawing/2014/main" id="{DBCFBE25-E67E-1F82-E56D-6D0A42C09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8869" y="2401704"/>
            <a:ext cx="1974260" cy="1980841"/>
          </a:xfrm>
          <a:prstGeom prst="rect">
            <a:avLst/>
          </a:prstGeom>
        </p:spPr>
      </p:pic>
    </p:spTree>
    <p:extLst>
      <p:ext uri="{BB962C8B-B14F-4D97-AF65-F5344CB8AC3E}">
        <p14:creationId xmlns:p14="http://schemas.microsoft.com/office/powerpoint/2010/main" val="1863576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479D9-53BF-6E2E-5551-F158F37F9D37}"/>
              </a:ext>
            </a:extLst>
          </p:cNvPr>
          <p:cNvSpPr>
            <a:spLocks noGrp="1"/>
          </p:cNvSpPr>
          <p:nvPr>
            <p:ph type="title"/>
          </p:nvPr>
        </p:nvSpPr>
        <p:spPr/>
        <p:txBody>
          <a:bodyPr/>
          <a:lstStyle/>
          <a:p>
            <a:r>
              <a:rPr lang="en-IN" b="1" dirty="0"/>
              <a:t>INTRODUCTION TO ORGANISATION</a:t>
            </a:r>
          </a:p>
        </p:txBody>
      </p:sp>
      <p:sp>
        <p:nvSpPr>
          <p:cNvPr id="3" name="Content Placeholder 2">
            <a:extLst>
              <a:ext uri="{FF2B5EF4-FFF2-40B4-BE49-F238E27FC236}">
                <a16:creationId xmlns:a16="http://schemas.microsoft.com/office/drawing/2014/main" id="{E7D9B915-2D7A-8680-80B9-6C30AE2E91D6}"/>
              </a:ext>
            </a:extLst>
          </p:cNvPr>
          <p:cNvSpPr>
            <a:spLocks noGrp="1"/>
          </p:cNvSpPr>
          <p:nvPr>
            <p:ph idx="1"/>
          </p:nvPr>
        </p:nvSpPr>
        <p:spPr>
          <a:xfrm>
            <a:off x="838200" y="1825625"/>
            <a:ext cx="6330696" cy="4351338"/>
          </a:xfrm>
        </p:spPr>
        <p:txBody>
          <a:bodyPr>
            <a:normAutofit/>
          </a:bodyPr>
          <a:lstStyle/>
          <a:p>
            <a:r>
              <a:rPr lang="en-US" sz="2000" dirty="0"/>
              <a:t>Future Finders is an upcoming and upgrowing organization improvising ‘State of the art’ skill development courses to the aspirants who wish to build up their career in the field of web development, web Designing, and many more fields. At Future Finders, we offer services to the students, who are on the brink of entering into corporate Rena an incredible opportunity to transform one’s career in the technical Sector.</a:t>
            </a:r>
          </a:p>
          <a:p>
            <a:r>
              <a:rPr lang="en-US" sz="2000" dirty="0"/>
              <a:t>Our team of professional and expert developers and designers fully focus on practical experience, thereby equipping one with the essential skills required in IT arena now a days in various disciplines including Software, Cloud, Data, and QA Engineering.</a:t>
            </a:r>
          </a:p>
          <a:p>
            <a:endParaRPr lang="en-IN" dirty="0"/>
          </a:p>
        </p:txBody>
      </p:sp>
      <p:grpSp>
        <p:nvGrpSpPr>
          <p:cNvPr id="4" name="Group 3">
            <a:extLst>
              <a:ext uri="{FF2B5EF4-FFF2-40B4-BE49-F238E27FC236}">
                <a16:creationId xmlns:a16="http://schemas.microsoft.com/office/drawing/2014/main" id="{2FC5F6D6-88C8-927A-66E7-3BCDB8C03DB6}"/>
              </a:ext>
            </a:extLst>
          </p:cNvPr>
          <p:cNvGrpSpPr/>
          <p:nvPr/>
        </p:nvGrpSpPr>
        <p:grpSpPr>
          <a:xfrm>
            <a:off x="7050024" y="1690689"/>
            <a:ext cx="5023104" cy="3996880"/>
            <a:chOff x="0" y="0"/>
            <a:chExt cx="7246822" cy="5800725"/>
          </a:xfrm>
        </p:grpSpPr>
        <p:pic>
          <p:nvPicPr>
            <p:cNvPr id="5" name="Picture 4">
              <a:extLst>
                <a:ext uri="{FF2B5EF4-FFF2-40B4-BE49-F238E27FC236}">
                  <a16:creationId xmlns:a16="http://schemas.microsoft.com/office/drawing/2014/main" id="{28A79132-8617-4FDA-5C66-CCECB96C8F92}"/>
                </a:ext>
              </a:extLst>
            </p:cNvPr>
            <p:cNvPicPr/>
            <p:nvPr/>
          </p:nvPicPr>
          <p:blipFill>
            <a:blip r:embed="rId2"/>
            <a:stretch>
              <a:fillRect/>
            </a:stretch>
          </p:blipFill>
          <p:spPr>
            <a:xfrm>
              <a:off x="0" y="0"/>
              <a:ext cx="7115174" cy="5800725"/>
            </a:xfrm>
            <a:prstGeom prst="rect">
              <a:avLst/>
            </a:prstGeom>
          </p:spPr>
        </p:pic>
        <p:sp>
          <p:nvSpPr>
            <p:cNvPr id="6" name="Rectangle 5">
              <a:extLst>
                <a:ext uri="{FF2B5EF4-FFF2-40B4-BE49-F238E27FC236}">
                  <a16:creationId xmlns:a16="http://schemas.microsoft.com/office/drawing/2014/main" id="{5E27875E-7768-AA0E-7321-52477B365322}"/>
                </a:ext>
              </a:extLst>
            </p:cNvPr>
            <p:cNvSpPr/>
            <p:nvPr/>
          </p:nvSpPr>
          <p:spPr>
            <a:xfrm>
              <a:off x="1914525" y="299145"/>
              <a:ext cx="458927"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 name="Rectangle 6">
              <a:extLst>
                <a:ext uri="{FF2B5EF4-FFF2-40B4-BE49-F238E27FC236}">
                  <a16:creationId xmlns:a16="http://schemas.microsoft.com/office/drawing/2014/main" id="{D9399C8B-057A-7BCF-9370-91E196141395}"/>
                </a:ext>
              </a:extLst>
            </p:cNvPr>
            <p:cNvSpPr/>
            <p:nvPr/>
          </p:nvSpPr>
          <p:spPr>
            <a:xfrm>
              <a:off x="2257425" y="299145"/>
              <a:ext cx="112728"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8" name="Rectangle 7">
              <a:extLst>
                <a:ext uri="{FF2B5EF4-FFF2-40B4-BE49-F238E27FC236}">
                  <a16:creationId xmlns:a16="http://schemas.microsoft.com/office/drawing/2014/main" id="{A9A8F492-D1A6-5335-DDB5-FCE4AD8F8FB0}"/>
                </a:ext>
              </a:extLst>
            </p:cNvPr>
            <p:cNvSpPr/>
            <p:nvPr/>
          </p:nvSpPr>
          <p:spPr>
            <a:xfrm>
              <a:off x="2914650" y="299145"/>
              <a:ext cx="720804"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8">
              <a:extLst>
                <a:ext uri="{FF2B5EF4-FFF2-40B4-BE49-F238E27FC236}">
                  <a16:creationId xmlns:a16="http://schemas.microsoft.com/office/drawing/2014/main" id="{A95241DD-D3DC-2AC0-E107-20B01F689DD5}"/>
                </a:ext>
              </a:extLst>
            </p:cNvPr>
            <p:cNvSpPr/>
            <p:nvPr/>
          </p:nvSpPr>
          <p:spPr>
            <a:xfrm>
              <a:off x="3457575" y="299145"/>
              <a:ext cx="112728"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0" name="Rectangle 9">
              <a:extLst>
                <a:ext uri="{FF2B5EF4-FFF2-40B4-BE49-F238E27FC236}">
                  <a16:creationId xmlns:a16="http://schemas.microsoft.com/office/drawing/2014/main" id="{96184F9E-37D1-FA75-3C5B-5EA93E929F91}"/>
                </a:ext>
              </a:extLst>
            </p:cNvPr>
            <p:cNvSpPr/>
            <p:nvPr/>
          </p:nvSpPr>
          <p:spPr>
            <a:xfrm>
              <a:off x="4114800" y="299145"/>
              <a:ext cx="708135"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935249F0-B807-045F-1A15-FE8CB4D059B4}"/>
                </a:ext>
              </a:extLst>
            </p:cNvPr>
            <p:cNvSpPr/>
            <p:nvPr/>
          </p:nvSpPr>
          <p:spPr>
            <a:xfrm>
              <a:off x="4648200" y="299145"/>
              <a:ext cx="112727"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5D8F4F8B-70F9-9F2B-6ED6-83B56E3FDC51}"/>
                </a:ext>
              </a:extLst>
            </p:cNvPr>
            <p:cNvSpPr/>
            <p:nvPr/>
          </p:nvSpPr>
          <p:spPr>
            <a:xfrm>
              <a:off x="5305424" y="299145"/>
              <a:ext cx="957146"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3" name="Rectangle 12">
              <a:extLst>
                <a:ext uri="{FF2B5EF4-FFF2-40B4-BE49-F238E27FC236}">
                  <a16:creationId xmlns:a16="http://schemas.microsoft.com/office/drawing/2014/main" id="{DA1A16F3-D98A-464B-4D02-CDA85FB66805}"/>
                </a:ext>
              </a:extLst>
            </p:cNvPr>
            <p:cNvSpPr/>
            <p:nvPr/>
          </p:nvSpPr>
          <p:spPr>
            <a:xfrm>
              <a:off x="6029324" y="299145"/>
              <a:ext cx="112728"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4" name="Rectangle 13">
              <a:extLst>
                <a:ext uri="{FF2B5EF4-FFF2-40B4-BE49-F238E27FC236}">
                  <a16:creationId xmlns:a16="http://schemas.microsoft.com/office/drawing/2014/main" id="{6E350B2B-2ABF-A27C-A910-1BEDEFC196F8}"/>
                </a:ext>
              </a:extLst>
            </p:cNvPr>
            <p:cNvSpPr/>
            <p:nvPr/>
          </p:nvSpPr>
          <p:spPr>
            <a:xfrm>
              <a:off x="6686549" y="299145"/>
              <a:ext cx="560273"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5" name="Rectangle 14">
              <a:extLst>
                <a:ext uri="{FF2B5EF4-FFF2-40B4-BE49-F238E27FC236}">
                  <a16:creationId xmlns:a16="http://schemas.microsoft.com/office/drawing/2014/main" id="{1B9C3C54-E4CD-AAEE-F35D-DE1550C6601A}"/>
                </a:ext>
              </a:extLst>
            </p:cNvPr>
            <p:cNvSpPr/>
            <p:nvPr/>
          </p:nvSpPr>
          <p:spPr>
            <a:xfrm>
              <a:off x="7105649" y="299145"/>
              <a:ext cx="112728" cy="189826"/>
            </a:xfrm>
            <a:prstGeom prst="rect">
              <a:avLst/>
            </a:prstGeom>
            <a:ln>
              <a:noFill/>
            </a:ln>
          </p:spPr>
          <p:txBody>
            <a:bodyPr vert="horz" lIns="0" tIns="0" rIns="0" bIns="0" rtlCol="0">
              <a:noAutofit/>
            </a:bodyPr>
            <a:lstStyle/>
            <a:p>
              <a:pPr marL="0" marR="0">
                <a:lnSpc>
                  <a:spcPct val="107000"/>
                </a:lnSpc>
                <a:spcAft>
                  <a:spcPts val="800"/>
                </a:spcAft>
                <a:buNone/>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p:txBody>
        </p:sp>
      </p:grpSp>
    </p:spTree>
    <p:extLst>
      <p:ext uri="{BB962C8B-B14F-4D97-AF65-F5344CB8AC3E}">
        <p14:creationId xmlns:p14="http://schemas.microsoft.com/office/powerpoint/2010/main" val="953285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388C-62D5-C37C-0524-9ADE6319A841}"/>
              </a:ext>
            </a:extLst>
          </p:cNvPr>
          <p:cNvSpPr>
            <a:spLocks noGrp="1"/>
          </p:cNvSpPr>
          <p:nvPr>
            <p:ph type="title"/>
          </p:nvPr>
        </p:nvSpPr>
        <p:spPr/>
        <p:txBody>
          <a:bodyPr/>
          <a:lstStyle/>
          <a:p>
            <a:r>
              <a:rPr lang="en-IN" b="1" dirty="0"/>
              <a:t>TECHNOLOGY LEARNED</a:t>
            </a:r>
          </a:p>
        </p:txBody>
      </p:sp>
      <p:sp>
        <p:nvSpPr>
          <p:cNvPr id="3" name="Content Placeholder 2">
            <a:extLst>
              <a:ext uri="{FF2B5EF4-FFF2-40B4-BE49-F238E27FC236}">
                <a16:creationId xmlns:a16="http://schemas.microsoft.com/office/drawing/2014/main" id="{8CE253A7-E4AC-6040-B0E0-7E74F4458694}"/>
              </a:ext>
            </a:extLst>
          </p:cNvPr>
          <p:cNvSpPr>
            <a:spLocks noGrp="1"/>
          </p:cNvSpPr>
          <p:nvPr>
            <p:ph idx="1"/>
          </p:nvPr>
        </p:nvSpPr>
        <p:spPr>
          <a:xfrm>
            <a:off x="838200" y="1444752"/>
            <a:ext cx="7555992" cy="5048123"/>
          </a:xfrm>
        </p:spPr>
        <p:txBody>
          <a:bodyPr>
            <a:normAutofit lnSpcReduction="10000"/>
          </a:bodyPr>
          <a:lstStyle/>
          <a:p>
            <a:r>
              <a:rPr lang="en-US" b="1" dirty="0"/>
              <a:t>Proteus 8 Professional</a:t>
            </a:r>
            <a:endParaRPr lang="en-US" dirty="0"/>
          </a:p>
          <a:p>
            <a:pPr marL="0" indent="0">
              <a:buNone/>
            </a:pPr>
            <a:r>
              <a:rPr lang="en-US" sz="2000" dirty="0"/>
              <a:t>Proteus is an Electronic Design Automation (EDA) software suite developed by Lab center Electronics. It is widely used for designing, simulating, and laying out Printed Circuit Boards (PCBs). The software integrates several tools to facilitate the entire electronic design process, from schematic capture to final PCB production.</a:t>
            </a:r>
          </a:p>
          <a:p>
            <a:r>
              <a:rPr lang="en-US" b="1" dirty="0" err="1"/>
              <a:t>KiCad</a:t>
            </a:r>
            <a:endParaRPr lang="en-US" dirty="0"/>
          </a:p>
          <a:p>
            <a:pPr marL="0" indent="0">
              <a:buNone/>
            </a:pPr>
            <a:r>
              <a:rPr lang="en-US" sz="2200" dirty="0" err="1"/>
              <a:t>KiCad</a:t>
            </a:r>
            <a:r>
              <a:rPr lang="en-US" sz="2200" dirty="0"/>
              <a:t> is a free and open-source electronic design automation (EDA) suite for creating schematics and printed circuit boards (PCBs). It offers a comprehensive toolset for professional and hobbyist use, including schematic capture, PCB layout, integrated circuit simulation, and 3D rendering. Key features include its cross-platform compatibility (Linux, macOS, Windows), robust libraries, and continuous development by a dedicated team, notes </a:t>
            </a:r>
            <a:r>
              <a:rPr lang="en-US" sz="2200" dirty="0">
                <a:hlinkClick r:id="rId2">
                  <a:extLst>
                    <a:ext uri="{A12FA001-AC4F-418D-AE19-62706E023703}">
                      <ahyp:hlinkClr xmlns:ahyp="http://schemas.microsoft.com/office/drawing/2018/hyperlinkcolor" val="tx"/>
                    </a:ext>
                  </a:extLst>
                </a:hlinkClick>
              </a:rPr>
              <a:t>KiCad's official documentation</a:t>
            </a:r>
            <a:r>
              <a:rPr lang="en-US" sz="2200" dirty="0"/>
              <a:t>. </a:t>
            </a:r>
            <a:r>
              <a:rPr lang="en-US" dirty="0"/>
              <a:t> </a:t>
            </a:r>
          </a:p>
          <a:p>
            <a:pPr marL="0" indent="0">
              <a:buNone/>
            </a:pPr>
            <a:endParaRPr lang="en-IN" b="1" dirty="0"/>
          </a:p>
        </p:txBody>
      </p:sp>
      <p:sp>
        <p:nvSpPr>
          <p:cNvPr id="4" name="AutoShape 2">
            <a:extLst>
              <a:ext uri="{FF2B5EF4-FFF2-40B4-BE49-F238E27FC236}">
                <a16:creationId xmlns:a16="http://schemas.microsoft.com/office/drawing/2014/main" id="{BC1606FA-1A01-10B1-0D93-EC235E2CA310}"/>
              </a:ext>
            </a:extLst>
          </p:cNvPr>
          <p:cNvSpPr>
            <a:spLocks noChangeAspect="1" noChangeArrowheads="1"/>
          </p:cNvSpPr>
          <p:nvPr/>
        </p:nvSpPr>
        <p:spPr bwMode="auto">
          <a:xfrm>
            <a:off x="5943600" y="3276600"/>
            <a:ext cx="3328416" cy="33284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a:extLst>
              <a:ext uri="{FF2B5EF4-FFF2-40B4-BE49-F238E27FC236}">
                <a16:creationId xmlns:a16="http://schemas.microsoft.com/office/drawing/2014/main" id="{29E36B70-5B61-93DA-E788-7204D1B35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0875" y="4165283"/>
            <a:ext cx="3343275" cy="13620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fter Proteus 8.6 , Proteus 8.13 is The ...">
            <a:extLst>
              <a:ext uri="{FF2B5EF4-FFF2-40B4-BE49-F238E27FC236}">
                <a16:creationId xmlns:a16="http://schemas.microsoft.com/office/drawing/2014/main" id="{218E1828-25FB-79F2-C857-E8242EFAE08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82100" y="1779747"/>
            <a:ext cx="1691640" cy="1592580"/>
          </a:xfrm>
          <a:prstGeom prst="rect">
            <a:avLst/>
          </a:prstGeom>
          <a:noFill/>
          <a:ln>
            <a:noFill/>
          </a:ln>
        </p:spPr>
      </p:pic>
    </p:spTree>
    <p:extLst>
      <p:ext uri="{BB962C8B-B14F-4D97-AF65-F5344CB8AC3E}">
        <p14:creationId xmlns:p14="http://schemas.microsoft.com/office/powerpoint/2010/main" val="46710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01A4-600A-1492-84C6-AC41936B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E5A3B-14E2-434C-8258-F0CE3C2839FC}"/>
              </a:ext>
            </a:extLst>
          </p:cNvPr>
          <p:cNvSpPr>
            <a:spLocks noGrp="1"/>
          </p:cNvSpPr>
          <p:nvPr>
            <p:ph type="title"/>
          </p:nvPr>
        </p:nvSpPr>
        <p:spPr/>
        <p:txBody>
          <a:bodyPr/>
          <a:lstStyle/>
          <a:p>
            <a:r>
              <a:rPr lang="en-IN" b="1" dirty="0"/>
              <a:t>TECHNOLOGY LEARNED</a:t>
            </a:r>
          </a:p>
        </p:txBody>
      </p:sp>
      <p:sp>
        <p:nvSpPr>
          <p:cNvPr id="3" name="Content Placeholder 2">
            <a:extLst>
              <a:ext uri="{FF2B5EF4-FFF2-40B4-BE49-F238E27FC236}">
                <a16:creationId xmlns:a16="http://schemas.microsoft.com/office/drawing/2014/main" id="{1A83C546-1A29-419A-5C87-203668DCEB78}"/>
              </a:ext>
            </a:extLst>
          </p:cNvPr>
          <p:cNvSpPr>
            <a:spLocks noGrp="1"/>
          </p:cNvSpPr>
          <p:nvPr>
            <p:ph idx="1"/>
          </p:nvPr>
        </p:nvSpPr>
        <p:spPr>
          <a:xfrm>
            <a:off x="838200" y="1825625"/>
            <a:ext cx="7254240" cy="4351338"/>
          </a:xfrm>
        </p:spPr>
        <p:txBody>
          <a:bodyPr>
            <a:normAutofit/>
          </a:bodyPr>
          <a:lstStyle/>
          <a:p>
            <a:r>
              <a:rPr lang="en-US" b="1" dirty="0"/>
              <a:t>Arduino IDE</a:t>
            </a:r>
            <a:endParaRPr lang="en-US" dirty="0"/>
          </a:p>
          <a:p>
            <a:pPr marL="0" indent="0">
              <a:buNone/>
            </a:pPr>
            <a:r>
              <a:rPr lang="en-US" sz="2000" dirty="0"/>
              <a:t>The Arduino IDE is a free, open-source software application that allows users to write, compile, and upload code to Arduino boards. It simplifies the process of programming microcontroller boards like the Arduino Uno by providing a text editor for writing code, a compiler to convert it into a format the board understands, and a serial monitor to communicate with the board. Available for Windows, macOS, and Linux, its key features include syntax highlighting, an auto-formatter, library management, and a user-friendly interface designed for both beginners and experienced users. </a:t>
            </a:r>
            <a:r>
              <a:rPr lang="en-US" dirty="0"/>
              <a:t> </a:t>
            </a:r>
          </a:p>
          <a:p>
            <a:pPr marL="0" indent="0">
              <a:buNone/>
            </a:pPr>
            <a:endParaRPr lang="en-IN" dirty="0"/>
          </a:p>
        </p:txBody>
      </p:sp>
      <p:pic>
        <p:nvPicPr>
          <p:cNvPr id="4" name="Picture 3" descr="What is Arduino? | Arduino">
            <a:extLst>
              <a:ext uri="{FF2B5EF4-FFF2-40B4-BE49-F238E27FC236}">
                <a16:creationId xmlns:a16="http://schemas.microsoft.com/office/drawing/2014/main" id="{8A8F1A44-0EAC-E0AA-9F68-B96D2E510F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92440" y="2596896"/>
            <a:ext cx="3837433" cy="2017620"/>
          </a:xfrm>
          <a:prstGeom prst="rect">
            <a:avLst/>
          </a:prstGeom>
          <a:noFill/>
          <a:ln>
            <a:noFill/>
          </a:ln>
        </p:spPr>
      </p:pic>
    </p:spTree>
    <p:extLst>
      <p:ext uri="{BB962C8B-B14F-4D97-AF65-F5344CB8AC3E}">
        <p14:creationId xmlns:p14="http://schemas.microsoft.com/office/powerpoint/2010/main" val="317274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1688A-5F52-8AEB-A531-C28419A7C987}"/>
              </a:ext>
            </a:extLst>
          </p:cNvPr>
          <p:cNvSpPr>
            <a:spLocks noGrp="1"/>
          </p:cNvSpPr>
          <p:nvPr>
            <p:ph type="title"/>
          </p:nvPr>
        </p:nvSpPr>
        <p:spPr>
          <a:xfrm>
            <a:off x="836612" y="457200"/>
            <a:ext cx="10515600" cy="771832"/>
          </a:xfrm>
        </p:spPr>
        <p:txBody>
          <a:bodyPr>
            <a:normAutofit/>
          </a:bodyPr>
          <a:lstStyle/>
          <a:p>
            <a:r>
              <a:rPr lang="en-IN" sz="4400" b="1" dirty="0"/>
              <a:t>INTRODUCTION TO PROJECT</a:t>
            </a:r>
          </a:p>
        </p:txBody>
      </p:sp>
      <p:sp>
        <p:nvSpPr>
          <p:cNvPr id="4" name="Text Placeholder 3">
            <a:extLst>
              <a:ext uri="{FF2B5EF4-FFF2-40B4-BE49-F238E27FC236}">
                <a16:creationId xmlns:a16="http://schemas.microsoft.com/office/drawing/2014/main" id="{50BF809E-8BF8-C2FA-DDBF-B510743A07F1}"/>
              </a:ext>
            </a:extLst>
          </p:cNvPr>
          <p:cNvSpPr>
            <a:spLocks noGrp="1"/>
          </p:cNvSpPr>
          <p:nvPr>
            <p:ph type="body" sz="half" idx="2"/>
          </p:nvPr>
        </p:nvSpPr>
        <p:spPr>
          <a:xfrm>
            <a:off x="839788" y="1327354"/>
            <a:ext cx="7179500" cy="4771694"/>
          </a:xfrm>
        </p:spPr>
        <p:txBody>
          <a:bodyPr>
            <a:normAutofit/>
          </a:bodyPr>
          <a:lstStyle/>
          <a:p>
            <a:r>
              <a:rPr lang="en-US" sz="2000" dirty="0"/>
              <a:t>The proposed system has been designed to overcome the unnecessary water flow into the agricultural lands. Temperature, moisture and humidity readings are continuously monitored by using temperature, moisture and humidity sensor and send these values to the assigned IP address. Android application continuously collects the data from that assigned IP address. Once the soil moisture values are exceeded the particular limit then the relay, which is connected to the Arduino microcontroller controls the motor. The android application is a simple menu driven application, with 4 options. This includes motor status, moisture, temperature and humidity values. The motor status indicates the current status of the pump.</a:t>
            </a:r>
            <a:endParaRPr lang="en-IN" sz="2000" dirty="0"/>
          </a:p>
        </p:txBody>
      </p:sp>
      <p:pic>
        <p:nvPicPr>
          <p:cNvPr id="6" name="Picture 5" descr="IoT based Smart Irrigation System using Soil Moisture Sensor and ESP8266  NodeMCU">
            <a:extLst>
              <a:ext uri="{FF2B5EF4-FFF2-40B4-BE49-F238E27FC236}">
                <a16:creationId xmlns:a16="http://schemas.microsoft.com/office/drawing/2014/main" id="{D823B9B8-0401-3D1B-CD0A-5B6BF1CEE4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90281" y="1420749"/>
            <a:ext cx="3765550" cy="3669030"/>
          </a:xfrm>
          <a:prstGeom prst="rect">
            <a:avLst/>
          </a:prstGeom>
          <a:noFill/>
          <a:ln>
            <a:noFill/>
          </a:ln>
        </p:spPr>
      </p:pic>
    </p:spTree>
    <p:extLst>
      <p:ext uri="{BB962C8B-B14F-4D97-AF65-F5344CB8AC3E}">
        <p14:creationId xmlns:p14="http://schemas.microsoft.com/office/powerpoint/2010/main" val="261421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A899-8684-6BC4-FC1C-600333CA24CB}"/>
              </a:ext>
            </a:extLst>
          </p:cNvPr>
          <p:cNvSpPr>
            <a:spLocks noGrp="1"/>
          </p:cNvSpPr>
          <p:nvPr>
            <p:ph type="title"/>
          </p:nvPr>
        </p:nvSpPr>
        <p:spPr/>
        <p:txBody>
          <a:bodyPr/>
          <a:lstStyle/>
          <a:p>
            <a:r>
              <a:rPr lang="en-IN" b="1" dirty="0"/>
              <a:t>BLOCK DIAGRAM OF PROJECT</a:t>
            </a:r>
          </a:p>
        </p:txBody>
      </p:sp>
      <p:pic>
        <p:nvPicPr>
          <p:cNvPr id="5" name="Content Placeholder 4">
            <a:extLst>
              <a:ext uri="{FF2B5EF4-FFF2-40B4-BE49-F238E27FC236}">
                <a16:creationId xmlns:a16="http://schemas.microsoft.com/office/drawing/2014/main" id="{77E27515-7748-E59D-6224-073776D30C11}"/>
              </a:ext>
            </a:extLst>
          </p:cNvPr>
          <p:cNvPicPr>
            <a:picLocks noGrp="1" noChangeAspect="1"/>
          </p:cNvPicPr>
          <p:nvPr>
            <p:ph idx="1"/>
          </p:nvPr>
        </p:nvPicPr>
        <p:blipFill>
          <a:blip r:embed="rId2"/>
          <a:stretch>
            <a:fillRect/>
          </a:stretch>
        </p:blipFill>
        <p:spPr>
          <a:xfrm>
            <a:off x="2668880" y="1450720"/>
            <a:ext cx="6758583" cy="5060183"/>
          </a:xfrm>
          <a:prstGeom prst="rect">
            <a:avLst/>
          </a:prstGeom>
        </p:spPr>
      </p:pic>
    </p:spTree>
    <p:extLst>
      <p:ext uri="{BB962C8B-B14F-4D97-AF65-F5344CB8AC3E}">
        <p14:creationId xmlns:p14="http://schemas.microsoft.com/office/powerpoint/2010/main" val="2910643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1E0BA-B178-7C3E-16DE-629DA7CF0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F3A0E-FC58-29D1-7D1C-F57148D2CF4C}"/>
              </a:ext>
            </a:extLst>
          </p:cNvPr>
          <p:cNvSpPr>
            <a:spLocks noGrp="1"/>
          </p:cNvSpPr>
          <p:nvPr>
            <p:ph type="title"/>
          </p:nvPr>
        </p:nvSpPr>
        <p:spPr>
          <a:xfrm>
            <a:off x="408432" y="0"/>
            <a:ext cx="10515600" cy="1325563"/>
          </a:xfrm>
        </p:spPr>
        <p:txBody>
          <a:bodyPr/>
          <a:lstStyle/>
          <a:p>
            <a:r>
              <a:rPr lang="en-IN" b="1" dirty="0"/>
              <a:t>FLOW CHART OF PROJECT</a:t>
            </a:r>
          </a:p>
        </p:txBody>
      </p:sp>
      <p:pic>
        <p:nvPicPr>
          <p:cNvPr id="4" name="Content Placeholder 3" descr="Flowchart of the smart automatic irrigation system. | Download Scientific  Diagram">
            <a:extLst>
              <a:ext uri="{FF2B5EF4-FFF2-40B4-BE49-F238E27FC236}">
                <a16:creationId xmlns:a16="http://schemas.microsoft.com/office/drawing/2014/main" id="{C4E0D64D-8195-004D-925E-D76B9AAD72E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22192" y="1012643"/>
            <a:ext cx="4169664" cy="5594046"/>
          </a:xfrm>
          <a:prstGeom prst="rect">
            <a:avLst/>
          </a:prstGeom>
          <a:noFill/>
          <a:ln>
            <a:noFill/>
          </a:ln>
        </p:spPr>
      </p:pic>
    </p:spTree>
    <p:extLst>
      <p:ext uri="{BB962C8B-B14F-4D97-AF65-F5344CB8AC3E}">
        <p14:creationId xmlns:p14="http://schemas.microsoft.com/office/powerpoint/2010/main" val="158952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B353F-1F63-11FF-6ED2-0F8A825C80E4}"/>
              </a:ext>
            </a:extLst>
          </p:cNvPr>
          <p:cNvSpPr>
            <a:spLocks noGrp="1"/>
          </p:cNvSpPr>
          <p:nvPr>
            <p:ph type="title"/>
          </p:nvPr>
        </p:nvSpPr>
        <p:spPr>
          <a:xfrm>
            <a:off x="536448" y="-82931"/>
            <a:ext cx="10515600" cy="1325563"/>
          </a:xfrm>
        </p:spPr>
        <p:txBody>
          <a:bodyPr/>
          <a:lstStyle/>
          <a:p>
            <a:r>
              <a:rPr lang="en-IN" b="1" dirty="0"/>
              <a:t>CODING OR WORKING OF PROJECT</a:t>
            </a:r>
          </a:p>
        </p:txBody>
      </p:sp>
      <p:pic>
        <p:nvPicPr>
          <p:cNvPr id="5" name="Content Placeholder 4">
            <a:extLst>
              <a:ext uri="{FF2B5EF4-FFF2-40B4-BE49-F238E27FC236}">
                <a16:creationId xmlns:a16="http://schemas.microsoft.com/office/drawing/2014/main" id="{CEF50A8D-BA83-3361-5822-947B36978EBC}"/>
              </a:ext>
            </a:extLst>
          </p:cNvPr>
          <p:cNvPicPr>
            <a:picLocks noGrp="1" noChangeAspect="1"/>
          </p:cNvPicPr>
          <p:nvPr>
            <p:ph idx="1"/>
          </p:nvPr>
        </p:nvPicPr>
        <p:blipFill>
          <a:blip r:embed="rId2"/>
          <a:stretch>
            <a:fillRect/>
          </a:stretch>
        </p:blipFill>
        <p:spPr>
          <a:xfrm>
            <a:off x="536448" y="883221"/>
            <a:ext cx="4585981" cy="4008819"/>
          </a:xfrm>
          <a:prstGeom prst="rect">
            <a:avLst/>
          </a:prstGeom>
        </p:spPr>
      </p:pic>
      <p:pic>
        <p:nvPicPr>
          <p:cNvPr id="7" name="Picture 6">
            <a:extLst>
              <a:ext uri="{FF2B5EF4-FFF2-40B4-BE49-F238E27FC236}">
                <a16:creationId xmlns:a16="http://schemas.microsoft.com/office/drawing/2014/main" id="{BFDF95C1-BDEC-2F24-5219-F89ED1227833}"/>
              </a:ext>
            </a:extLst>
          </p:cNvPr>
          <p:cNvPicPr>
            <a:picLocks noChangeAspect="1"/>
          </p:cNvPicPr>
          <p:nvPr/>
        </p:nvPicPr>
        <p:blipFill>
          <a:blip r:embed="rId3"/>
          <a:stretch>
            <a:fillRect/>
          </a:stretch>
        </p:blipFill>
        <p:spPr>
          <a:xfrm>
            <a:off x="6624849" y="800925"/>
            <a:ext cx="4847493" cy="4091115"/>
          </a:xfrm>
          <a:prstGeom prst="rect">
            <a:avLst/>
          </a:prstGeom>
        </p:spPr>
      </p:pic>
      <p:pic>
        <p:nvPicPr>
          <p:cNvPr id="9" name="Picture 8">
            <a:extLst>
              <a:ext uri="{FF2B5EF4-FFF2-40B4-BE49-F238E27FC236}">
                <a16:creationId xmlns:a16="http://schemas.microsoft.com/office/drawing/2014/main" id="{1C6B610A-694B-AA9C-923A-9DC03CDFD7EF}"/>
              </a:ext>
            </a:extLst>
          </p:cNvPr>
          <p:cNvPicPr>
            <a:picLocks noChangeAspect="1"/>
          </p:cNvPicPr>
          <p:nvPr/>
        </p:nvPicPr>
        <p:blipFill>
          <a:blip r:embed="rId4"/>
          <a:stretch>
            <a:fillRect/>
          </a:stretch>
        </p:blipFill>
        <p:spPr>
          <a:xfrm>
            <a:off x="2299415" y="5078605"/>
            <a:ext cx="6934801" cy="1394581"/>
          </a:xfrm>
          <a:prstGeom prst="rect">
            <a:avLst/>
          </a:prstGeom>
        </p:spPr>
      </p:pic>
    </p:spTree>
    <p:extLst>
      <p:ext uri="{BB962C8B-B14F-4D97-AF65-F5344CB8AC3E}">
        <p14:creationId xmlns:p14="http://schemas.microsoft.com/office/powerpoint/2010/main" val="3756934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1249-6BC9-8196-F690-DE8C4E1FBFF6}"/>
              </a:ext>
            </a:extLst>
          </p:cNvPr>
          <p:cNvSpPr>
            <a:spLocks noGrp="1"/>
          </p:cNvSpPr>
          <p:nvPr>
            <p:ph type="title"/>
          </p:nvPr>
        </p:nvSpPr>
        <p:spPr>
          <a:xfrm>
            <a:off x="774192" y="-5340"/>
            <a:ext cx="10515600" cy="1325563"/>
          </a:xfrm>
        </p:spPr>
        <p:txBody>
          <a:bodyPr/>
          <a:lstStyle/>
          <a:p>
            <a:r>
              <a:rPr lang="en-IN" b="1" dirty="0"/>
              <a:t>SCREENSHOTS</a:t>
            </a:r>
          </a:p>
        </p:txBody>
      </p:sp>
      <p:sp>
        <p:nvSpPr>
          <p:cNvPr id="3" name="Content Placeholder 2">
            <a:extLst>
              <a:ext uri="{FF2B5EF4-FFF2-40B4-BE49-F238E27FC236}">
                <a16:creationId xmlns:a16="http://schemas.microsoft.com/office/drawing/2014/main" id="{CFC54F38-EE8F-5DBC-27C8-E0D3F7BD41DF}"/>
              </a:ext>
            </a:extLst>
          </p:cNvPr>
          <p:cNvSpPr>
            <a:spLocks noGrp="1"/>
          </p:cNvSpPr>
          <p:nvPr>
            <p:ph sz="half" idx="1"/>
          </p:nvPr>
        </p:nvSpPr>
        <p:spPr>
          <a:xfrm>
            <a:off x="838200" y="1825625"/>
            <a:ext cx="45719" cy="67183"/>
          </a:xfrm>
        </p:spPr>
        <p:txBody>
          <a:bodyPr>
            <a:normAutofit fontScale="25000" lnSpcReduction="20000"/>
          </a:bodyPr>
          <a:lstStyle/>
          <a:p>
            <a:endParaRPr lang="en-IN" dirty="0"/>
          </a:p>
        </p:txBody>
      </p:sp>
      <p:pic>
        <p:nvPicPr>
          <p:cNvPr id="5" name="Picture 4" descr="IoT based Smart Irrigation System using Soil Moisture Sensor and ESP8266  NodeMCU">
            <a:extLst>
              <a:ext uri="{FF2B5EF4-FFF2-40B4-BE49-F238E27FC236}">
                <a16:creationId xmlns:a16="http://schemas.microsoft.com/office/drawing/2014/main" id="{5FE8FE54-97D7-6299-BFA2-E718AC8B35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3512" y="1320223"/>
            <a:ext cx="5308727" cy="5172652"/>
          </a:xfrm>
          <a:prstGeom prst="rect">
            <a:avLst/>
          </a:prstGeom>
          <a:noFill/>
          <a:ln>
            <a:noFill/>
          </a:ln>
        </p:spPr>
      </p:pic>
    </p:spTree>
    <p:extLst>
      <p:ext uri="{BB962C8B-B14F-4D97-AF65-F5344CB8AC3E}">
        <p14:creationId xmlns:p14="http://schemas.microsoft.com/office/powerpoint/2010/main" val="3279075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7EEC-16BB-BD7B-0CF8-8512243F3973}"/>
              </a:ext>
            </a:extLst>
          </p:cNvPr>
          <p:cNvSpPr>
            <a:spLocks noGrp="1"/>
          </p:cNvSpPr>
          <p:nvPr>
            <p:ph type="title"/>
          </p:nvPr>
        </p:nvSpPr>
        <p:spPr>
          <a:xfrm>
            <a:off x="582168" y="0"/>
            <a:ext cx="10515600" cy="1325563"/>
          </a:xfrm>
        </p:spPr>
        <p:txBody>
          <a:bodyPr/>
          <a:lstStyle/>
          <a:p>
            <a:r>
              <a:rPr lang="en-IN" b="1" dirty="0"/>
              <a:t>APPLICATIONS</a:t>
            </a:r>
          </a:p>
        </p:txBody>
      </p:sp>
      <p:sp>
        <p:nvSpPr>
          <p:cNvPr id="3" name="Content Placeholder 2">
            <a:extLst>
              <a:ext uri="{FF2B5EF4-FFF2-40B4-BE49-F238E27FC236}">
                <a16:creationId xmlns:a16="http://schemas.microsoft.com/office/drawing/2014/main" id="{5C96090F-657E-F9E2-D51C-938E807AB062}"/>
              </a:ext>
            </a:extLst>
          </p:cNvPr>
          <p:cNvSpPr>
            <a:spLocks noGrp="1"/>
          </p:cNvSpPr>
          <p:nvPr>
            <p:ph idx="1"/>
          </p:nvPr>
        </p:nvSpPr>
        <p:spPr>
          <a:xfrm>
            <a:off x="356616" y="996696"/>
            <a:ext cx="11704320" cy="5861303"/>
          </a:xfrm>
        </p:spPr>
        <p:txBody>
          <a:bodyPr>
            <a:normAutofit fontScale="55000" lnSpcReduction="20000"/>
          </a:bodyPr>
          <a:lstStyle/>
          <a:p>
            <a:pPr lvl="0"/>
            <a:r>
              <a:rPr lang="en-US" sz="3600" b="1" dirty="0"/>
              <a:t>Automated, condition-based irrigation: </a:t>
            </a:r>
            <a:r>
              <a:rPr lang="en-US" sz="3600" dirty="0"/>
              <a:t>The system uses soil moisture sensors to check water levels and the </a:t>
            </a:r>
            <a:r>
              <a:rPr lang="en-US" sz="3600" dirty="0" err="1"/>
              <a:t>NodeMCU</a:t>
            </a:r>
            <a:r>
              <a:rPr lang="en-US" sz="3600" dirty="0"/>
              <a:t> turns the water pump on only when the moisture drops below a user-defined threshold. This prevents over-watering and water waste, especially in areas with fluctuating rainfall.</a:t>
            </a:r>
          </a:p>
          <a:p>
            <a:pPr lvl="0"/>
            <a:r>
              <a:rPr lang="en-US" sz="3600" b="1" dirty="0"/>
              <a:t>Remote monitoring and control:</a:t>
            </a:r>
            <a:r>
              <a:rPr lang="en-US" sz="3600" dirty="0"/>
              <a:t> The </a:t>
            </a:r>
            <a:r>
              <a:rPr lang="en-US" sz="3600" dirty="0" err="1"/>
              <a:t>NodeMCU's</a:t>
            </a:r>
            <a:r>
              <a:rPr lang="en-US" sz="3600" dirty="0"/>
              <a:t> built-in Wi-Fi allows it to send sensor data to a cloud platform like </a:t>
            </a:r>
            <a:r>
              <a:rPr lang="en-US" sz="3600" u="sng" dirty="0" err="1">
                <a:hlinkClick r:id="rId2"/>
              </a:rPr>
              <a:t>ThingSpeak</a:t>
            </a:r>
            <a:r>
              <a:rPr lang="en-US" sz="3600" dirty="0"/>
              <a:t> or a custom mobile application (e.g., using </a:t>
            </a:r>
            <a:r>
              <a:rPr lang="en-US" sz="3600" u="sng" dirty="0">
                <a:hlinkClick r:id="rId3"/>
              </a:rPr>
              <a:t>Blynk</a:t>
            </a:r>
            <a:r>
              <a:rPr lang="en-US" sz="3600" dirty="0"/>
              <a:t>). Users can then view real-time data, such as soil moisture, temperature, and humidity, and manually turn the pump on or off from their phone.</a:t>
            </a:r>
          </a:p>
          <a:p>
            <a:pPr lvl="0"/>
            <a:r>
              <a:rPr lang="en-US" sz="3600" b="1" dirty="0"/>
              <a:t>Enhanced plant health and yield:</a:t>
            </a:r>
            <a:r>
              <a:rPr lang="en-US" sz="3600" dirty="0"/>
              <a:t> By maintaining optimal moisture levels and providing data on other environmental factors, the system helps ensure healthier plant growth and higher crop yields. For example, one study showed improved growth in coffee seedlings using a similar system, as noted on </a:t>
            </a:r>
            <a:r>
              <a:rPr lang="en-US" sz="3600" u="sng" dirty="0">
                <a:hlinkClick r:id="rId4"/>
              </a:rPr>
              <a:t>ResearchGate</a:t>
            </a:r>
            <a:r>
              <a:rPr lang="en-US" sz="3600" dirty="0"/>
              <a:t>.</a:t>
            </a:r>
          </a:p>
          <a:p>
            <a:pPr lvl="0"/>
            <a:r>
              <a:rPr lang="en-US" sz="3600" b="1" dirty="0"/>
              <a:t>Intelligent water management:</a:t>
            </a:r>
            <a:r>
              <a:rPr lang="en-US" sz="3600" dirty="0"/>
              <a:t> The system can also incorporate a rain sensor to stop irrigation during rainfall, further conserving water. Additionally, some advanced applications might include a flow meter to track the exact amount of water being used, providing even greater control and data for optimization.</a:t>
            </a:r>
          </a:p>
          <a:p>
            <a:pPr lvl="0"/>
            <a:r>
              <a:rPr lang="en-US" sz="3600" b="1" dirty="0"/>
              <a:t>Security and theft prevention:</a:t>
            </a:r>
            <a:r>
              <a:rPr lang="en-US" sz="3600" dirty="0"/>
              <a:t> By adding a PIR (Passive Infrared) motion sensor, the system can detect unauthorized movement in the monitored area. The system can then send an alert to the user, helping to deter pests or prevent theft.</a:t>
            </a:r>
          </a:p>
          <a:p>
            <a:pPr lvl="0"/>
            <a:r>
              <a:rPr lang="en-US" sz="3600" b="1" dirty="0"/>
              <a:t>Cost and labor reduction:</a:t>
            </a:r>
            <a:r>
              <a:rPr lang="en-US" sz="3600" dirty="0"/>
              <a:t> Automation significantly reduces the need for manual labor in monitoring and watering fields, which is particularly beneficial for large farms where manual inspection is difficult. The system is also cost-effective, especially in regions with limited resources, by reducing water and electricity consumption.</a:t>
            </a:r>
          </a:p>
          <a:p>
            <a:pPr lvl="0"/>
            <a:r>
              <a:rPr lang="en-US" sz="3600" b="1" dirty="0"/>
              <a:t>Customizable for various applications:</a:t>
            </a:r>
            <a:r>
              <a:rPr lang="en-US" sz="3600" dirty="0"/>
              <a:t> The modular nature of the system makes it adaptable to different scales, from a simple self-watering pot to a large-scale agricultural field. It can be programmed for different plant types and soil conditions, ensuring appropriate watering schedules. </a:t>
            </a:r>
          </a:p>
          <a:p>
            <a:pPr marL="0" indent="0">
              <a:buNone/>
            </a:pPr>
            <a:endParaRPr lang="en-IN" dirty="0"/>
          </a:p>
        </p:txBody>
      </p:sp>
    </p:spTree>
    <p:extLst>
      <p:ext uri="{BB962C8B-B14F-4D97-AF65-F5344CB8AC3E}">
        <p14:creationId xmlns:p14="http://schemas.microsoft.com/office/powerpoint/2010/main" val="1302389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548C-1E60-20CE-2EA3-809323242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B5A6B-9AAA-123B-67A1-2A5810C96CB3}"/>
              </a:ext>
            </a:extLst>
          </p:cNvPr>
          <p:cNvSpPr>
            <a:spLocks noGrp="1"/>
          </p:cNvSpPr>
          <p:nvPr>
            <p:ph type="title"/>
          </p:nvPr>
        </p:nvSpPr>
        <p:spPr>
          <a:xfrm>
            <a:off x="515112" y="0"/>
            <a:ext cx="10515600" cy="1325563"/>
          </a:xfrm>
        </p:spPr>
        <p:txBody>
          <a:bodyPr/>
          <a:lstStyle/>
          <a:p>
            <a:r>
              <a:rPr lang="en-IN" b="1" dirty="0"/>
              <a:t>REFERENCES</a:t>
            </a:r>
          </a:p>
        </p:txBody>
      </p:sp>
      <p:sp>
        <p:nvSpPr>
          <p:cNvPr id="3" name="Content Placeholder 2">
            <a:extLst>
              <a:ext uri="{FF2B5EF4-FFF2-40B4-BE49-F238E27FC236}">
                <a16:creationId xmlns:a16="http://schemas.microsoft.com/office/drawing/2014/main" id="{D9274D32-4682-876C-DE17-6FBF395D708F}"/>
              </a:ext>
            </a:extLst>
          </p:cNvPr>
          <p:cNvSpPr>
            <a:spLocks noGrp="1"/>
          </p:cNvSpPr>
          <p:nvPr>
            <p:ph idx="1"/>
          </p:nvPr>
        </p:nvSpPr>
        <p:spPr>
          <a:xfrm>
            <a:off x="539496" y="1097280"/>
            <a:ext cx="11055096" cy="5468112"/>
          </a:xfrm>
        </p:spPr>
        <p:txBody>
          <a:bodyPr>
            <a:normAutofit fontScale="85000" lnSpcReduction="10000"/>
          </a:bodyPr>
          <a:lstStyle/>
          <a:p>
            <a:r>
              <a:rPr lang="en-US" b="1" dirty="0"/>
              <a:t>1. </a:t>
            </a:r>
            <a:r>
              <a:rPr lang="en-US" b="1" u="sng" dirty="0">
                <a:hlinkClick r:id="rId2"/>
              </a:rPr>
              <a:t>https://futurefinders.in/services/</a:t>
            </a:r>
            <a:endParaRPr lang="en-US" dirty="0"/>
          </a:p>
          <a:p>
            <a:r>
              <a:rPr lang="en-US" b="1" dirty="0"/>
              <a:t>2. </a:t>
            </a:r>
            <a:r>
              <a:rPr lang="en-US" b="1" u="sng" dirty="0">
                <a:hlinkClick r:id="rId3"/>
              </a:rPr>
              <a:t>https://www.geeksforgeeks.org/electronics-engineering/what-is-vlsi/</a:t>
            </a:r>
            <a:endParaRPr lang="en-US" dirty="0"/>
          </a:p>
          <a:p>
            <a:r>
              <a:rPr lang="en-US" b="1" dirty="0"/>
              <a:t>3. </a:t>
            </a:r>
            <a:r>
              <a:rPr lang="en-US" b="1" u="sng" dirty="0">
                <a:hlinkClick r:id="rId4"/>
              </a:rPr>
              <a:t>https://x.com/Mahmud_Ibrahiem/status/1504402049391370246</a:t>
            </a:r>
            <a:endParaRPr lang="en-US" dirty="0"/>
          </a:p>
          <a:p>
            <a:r>
              <a:rPr lang="en-US" b="1" dirty="0"/>
              <a:t>4. </a:t>
            </a:r>
            <a:r>
              <a:rPr lang="en-US" b="1" u="sng" dirty="0">
                <a:hlinkClick r:id="rId5"/>
              </a:rPr>
              <a:t>https://randomnerdtutorials.com/esp8266-pinout-reference-gpios/</a:t>
            </a:r>
            <a:endParaRPr lang="en-US" dirty="0"/>
          </a:p>
          <a:p>
            <a:r>
              <a:rPr lang="en-US" b="1" dirty="0"/>
              <a:t>5. </a:t>
            </a:r>
            <a:r>
              <a:rPr lang="en-US" b="1" u="sng" dirty="0">
                <a:hlinkClick r:id="rId6"/>
              </a:rPr>
              <a:t>https://en.wikipedia.org/wiki/Arduino_Uno</a:t>
            </a:r>
            <a:endParaRPr lang="en-US" dirty="0"/>
          </a:p>
          <a:p>
            <a:r>
              <a:rPr lang="en-US" b="1" dirty="0"/>
              <a:t>6. </a:t>
            </a:r>
            <a:r>
              <a:rPr lang="en-US" b="1" u="sng" dirty="0">
                <a:hlinkClick r:id="rId7"/>
              </a:rPr>
              <a:t>https://circuitdigest.com/tutorial/different-types-of-sensors-and-their-working</a:t>
            </a:r>
            <a:endParaRPr lang="en-US" dirty="0"/>
          </a:p>
          <a:p>
            <a:r>
              <a:rPr lang="en-US" b="1" dirty="0"/>
              <a:t>7. </a:t>
            </a:r>
            <a:r>
              <a:rPr lang="en-US" b="1" u="sng" dirty="0">
                <a:hlinkClick r:id="rId8"/>
              </a:rPr>
              <a:t>https://www.arduino.cc/en/Guide/Introduction</a:t>
            </a:r>
            <a:endParaRPr lang="en-US" dirty="0"/>
          </a:p>
          <a:p>
            <a:r>
              <a:rPr lang="en-US" b="1" dirty="0"/>
              <a:t>8. </a:t>
            </a:r>
            <a:r>
              <a:rPr lang="en-US" b="1" u="sng" dirty="0">
                <a:hlinkClick r:id="rId9"/>
              </a:rPr>
              <a:t>https://srituhobby.com/smart-irrigation-system-using-nodemcu-and-blynk/?srsltid=AfmBOopiigBYuHoK7a2-yw6nyqU5xr1tJ3RIdIV6swUPaeTQGXC9p9Bv</a:t>
            </a:r>
            <a:endParaRPr lang="en-US" dirty="0"/>
          </a:p>
          <a:p>
            <a:r>
              <a:rPr lang="en-US" b="1" dirty="0"/>
              <a:t>9. </a:t>
            </a:r>
            <a:r>
              <a:rPr lang="en-US" b="1" u="sng" dirty="0">
                <a:hlinkClick r:id="rId10"/>
              </a:rPr>
              <a:t>https://harishprojects.com/products/dht-11-dht11-digital-temperature-and-relative-humidity-sensor-module?srsltid=AfmBOorpYLnTVK_7Yj-ijXNnqqdTVK9EueMspAgBDCfDZEK</a:t>
            </a:r>
            <a:endParaRPr lang="en-US" dirty="0"/>
          </a:p>
          <a:p>
            <a:r>
              <a:rPr lang="en-US" b="1" dirty="0"/>
              <a:t>10. https://www.researchgate.net/figure/Flowchart-of-the-smart-automatic-irrigation-system_fig2_334638910</a:t>
            </a:r>
            <a:endParaRPr lang="en-US" dirty="0"/>
          </a:p>
          <a:p>
            <a:pPr marL="0" indent="0">
              <a:buNone/>
            </a:pPr>
            <a:endParaRPr lang="en-IN" dirty="0"/>
          </a:p>
        </p:txBody>
      </p:sp>
    </p:spTree>
    <p:extLst>
      <p:ext uri="{BB962C8B-B14F-4D97-AF65-F5344CB8AC3E}">
        <p14:creationId xmlns:p14="http://schemas.microsoft.com/office/powerpoint/2010/main" val="3036513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05270-D2EB-D864-2C84-B59C298C79D5}"/>
              </a:ext>
            </a:extLst>
          </p:cNvPr>
          <p:cNvSpPr>
            <a:spLocks noGrp="1"/>
          </p:cNvSpPr>
          <p:nvPr>
            <p:ph type="ctrTitle"/>
          </p:nvPr>
        </p:nvSpPr>
        <p:spPr/>
        <p:txBody>
          <a:bodyPr/>
          <a:lstStyle/>
          <a:p>
            <a:r>
              <a:rPr lang="en-IN" b="1" dirty="0"/>
              <a:t>THANK YOU</a:t>
            </a:r>
          </a:p>
        </p:txBody>
      </p:sp>
    </p:spTree>
    <p:extLst>
      <p:ext uri="{BB962C8B-B14F-4D97-AF65-F5344CB8AC3E}">
        <p14:creationId xmlns:p14="http://schemas.microsoft.com/office/powerpoint/2010/main" val="935614076"/>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73</TotalTime>
  <Words>1044</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PRESENTATION ON INDUSTRIAL SUMMER TRAINING AND PROJECT</vt:lpstr>
      <vt:lpstr>INTRODUCTION TO ORGANISATION</vt:lpstr>
      <vt:lpstr>TECHNOLOGY LEARNED</vt:lpstr>
      <vt:lpstr>TECHNOLOGY LEARNED</vt:lpstr>
      <vt:lpstr>INTRODUCTION TO PROJECT</vt:lpstr>
      <vt:lpstr>BLOCK DIAGRAM OF PROJECT</vt:lpstr>
      <vt:lpstr>FLOW CHART OF PROJECT</vt:lpstr>
      <vt:lpstr>CODING OR WORKING OF PROJECT</vt:lpstr>
      <vt:lpstr>SCREENSHOTS</vt:lpstr>
      <vt:lpstr>APPLICATIONS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Cheffish Goyal</dc:creator>
  <cp:lastModifiedBy>Himanshu Saini</cp:lastModifiedBy>
  <cp:revision>2</cp:revision>
  <dcterms:created xsi:type="dcterms:W3CDTF">2025-10-30T07:52:51Z</dcterms:created>
  <dcterms:modified xsi:type="dcterms:W3CDTF">2025-11-13T09:14:37Z</dcterms:modified>
</cp:coreProperties>
</file>